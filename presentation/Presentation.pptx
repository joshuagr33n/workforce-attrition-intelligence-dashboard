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7657F"/>
              </a:solidFill>
              <a:effectLst/>
            </c:spPr>
          </c:dPt>
          <c:dPt>
            <c:idx val="1"/>
            <c:bubble3D val="0"/>
            <c:spPr>
              <a:solidFill>
                <a:srgbClr val="F28C28"/>
              </a:solidFill>
              <a:effectLst/>
            </c:spPr>
          </c:dPt>
          <c:dPt>
            <c:idx val="2"/>
            <c:bubble3D val="0"/>
            <c:spPr>
              <a:solidFill>
                <a:srgbClr val="1F8A5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612</c:v>
                </c:pt>
                <c:pt idx="1">
                  <c:v>553</c:v>
                </c:pt>
                <c:pt idx="2">
                  <c:v>68</c:v>
                </c:pt>
              </c:numCache>
            </c:numRef>
          </c:val>
        </c:ser>
        <c:firstSliceAng val="0"/>
        <c:holeSize val="68"/>
      </c:doughnutChart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D6E"/>
          </a:solidFill>
          <a:ln w="12700">
            <a:solidFill>
              <a:srgbClr val="0A4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5624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TalentSphere Solutions Ltd. • Workforce Attrition Intelligence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229600" y="6556248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HR-Employee-Attrition.xlsx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C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C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6858000"/>
          </a:xfrm>
          <a:prstGeom prst="rect">
            <a:avLst/>
          </a:prstGeom>
          <a:solidFill>
            <a:srgbClr val="073B5C"/>
          </a:solidFill>
          <a:ln w="12700">
            <a:solidFill>
              <a:srgbClr val="073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58368"/>
            <a:ext cx="1051560" cy="1051560"/>
          </a:xfrm>
          <a:prstGeom prst="ellipse">
            <a:avLst/>
          </a:prstGeom>
          <a:solidFill>
            <a:srgbClr val="0B4A6F"/>
          </a:solidFill>
          <a:ln w="19050">
            <a:solidFill>
              <a:srgbClr val="2AA6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960120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5740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WORKFORCE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ATTRITION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INTELLIGENCE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D0E2"/>
                </a:solidFill>
              </a:rPr>
              <a:t>TalentSphere Solutions Ltd.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4389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7EF"/>
                </a:solidFill>
              </a:rPr>
              <a:t>Excel Workforce Analytics Case Study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97680" y="1353312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workforce data to targeted retention action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315968" y="2029968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984"/>
                </a:solidFill>
              </a:rPr>
              <a:t>A concise executive presentation of the final attrition dashboard, key drivers, risk segmentation and recommended actions.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15968" y="3108960"/>
            <a:ext cx="2011680" cy="365760"/>
          </a:xfrm>
          <a:prstGeom prst="roundRect">
            <a:avLst/>
          </a:prstGeom>
          <a:solidFill>
            <a:srgbClr val="17657F">
              <a:alpha val="12000"/>
            </a:srgbClr>
          </a:solidFill>
          <a:ln w="12700">
            <a:solidFill>
              <a:srgbClr val="17657F">
                <a:alpha val="2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318668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657F"/>
                </a:solidFill>
              </a:rPr>
              <a:t>16.12% overall attrition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92240" y="3108960"/>
            <a:ext cx="2148840" cy="365760"/>
          </a:xfrm>
          <a:prstGeom prst="roundRect">
            <a:avLst/>
          </a:prstGeom>
          <a:solidFill>
            <a:srgbClr val="C45112">
              <a:alpha val="12000"/>
            </a:srgbClr>
          </a:solidFill>
          <a:ln w="12700">
            <a:solidFill>
              <a:srgbClr val="C45112">
                <a:alpha val="2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3186684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45112"/>
                </a:solidFill>
              </a:rPr>
              <a:t>30.53% with overtime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805672" y="3108960"/>
            <a:ext cx="2331720" cy="365760"/>
          </a:xfrm>
          <a:prstGeom prst="roundRect">
            <a:avLst/>
          </a:prstGeom>
          <a:solidFill>
            <a:srgbClr val="D62828">
              <a:alpha val="12000"/>
            </a:srgbClr>
          </a:solidFill>
          <a:ln w="12700">
            <a:solidFill>
              <a:srgbClr val="D62828">
                <a:alpha val="2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24544" y="3186684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828"/>
                </a:solidFill>
              </a:rPr>
              <a:t>68 high-risk employees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15968" y="60350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984"/>
                </a:solidFill>
              </a:rPr>
              <a:t>Prepared from the completed HR-Employee-Attrition workbook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snapshot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22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984"/>
                </a:solidFill>
              </a:rPr>
              <a:t>The workforce has a meaningful attrition problem, but the risk is concentrated enough to target.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sx="100000" sy="100000" kx="0" ky="0" algn="bl" rotWithShape="0" blurRad="15240" dist="50800" dir="2700000">
              <a:srgbClr val="B7C3C9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408176"/>
            <a:ext cx="566928" cy="566928"/>
          </a:xfrm>
          <a:prstGeom prst="ellipse">
            <a:avLst/>
          </a:prstGeom>
          <a:solidFill>
            <a:srgbClr val="17657F">
              <a:alpha val="18000"/>
            </a:srgbClr>
          </a:solidFill>
          <a:ln w="12700">
            <a:solidFill>
              <a:srgbClr val="17657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581912"/>
            <a:ext cx="219456" cy="219456"/>
          </a:xfrm>
          <a:prstGeom prst="ellipse">
            <a:avLst/>
          </a:prstGeom>
          <a:solidFill>
            <a:srgbClr val="17657F"/>
          </a:solidFill>
          <a:ln w="12700">
            <a:solidFill>
              <a:srgbClr val="1765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3533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73B5C"/>
                </a:solidFill>
              </a:rPr>
              <a:t>Total Employees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1325880" y="15910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3B5C"/>
                </a:solidFill>
              </a:rPr>
              <a:t>1,470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97480" y="123444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sx="100000" sy="100000" kx="0" ky="0" algn="bl" rotWithShape="0" blurRad="15240" dist="50800" dir="2700000">
              <a:srgbClr val="B7C3C9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62072" y="1408176"/>
            <a:ext cx="566928" cy="566928"/>
          </a:xfrm>
          <a:prstGeom prst="ellipse">
            <a:avLst/>
          </a:prstGeom>
          <a:solidFill>
            <a:srgbClr val="C45112">
              <a:alpha val="18000"/>
            </a:srgbClr>
          </a:solidFill>
          <a:ln w="12700">
            <a:solidFill>
              <a:srgbClr val="C4511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35808" y="1581912"/>
            <a:ext cx="219456" cy="219456"/>
          </a:xfrm>
          <a:prstGeom prst="ellipse">
            <a:avLst/>
          </a:prstGeom>
          <a:solidFill>
            <a:srgbClr val="C45112"/>
          </a:solidFill>
          <a:ln w="12700">
            <a:solidFill>
              <a:srgbClr val="C451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3533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73B5C"/>
                </a:solidFill>
              </a:rPr>
              <a:t>Employees Left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3520440" y="15910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3B5C"/>
                </a:solidFill>
              </a:rPr>
              <a:t>237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92040" y="123444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sx="100000" sy="100000" kx="0" ky="0" algn="bl" rotWithShape="0" blurRad="15240" dist="50800" dir="2700000">
              <a:srgbClr val="B7C3C9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56632" y="1408176"/>
            <a:ext cx="566928" cy="566928"/>
          </a:xfrm>
          <a:prstGeom prst="ellipse">
            <a:avLst/>
          </a:prstGeom>
          <a:solidFill>
            <a:srgbClr val="1F8A5B">
              <a:alpha val="18000"/>
            </a:srgbClr>
          </a:solidFill>
          <a:ln w="12700">
            <a:solidFill>
              <a:srgbClr val="1F8A5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30368" y="1581912"/>
            <a:ext cx="219456" cy="219456"/>
          </a:xfrm>
          <a:prstGeom prst="ellipse">
            <a:avLst/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13533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73B5C"/>
                </a:solidFill>
              </a:rPr>
              <a:t>Overall Attrition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715000" y="15910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3B5C"/>
                </a:solidFill>
              </a:rPr>
              <a:t>16.12%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086600" y="123444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sx="100000" sy="100000" kx="0" ky="0" algn="bl" rotWithShape="0" blurRad="15240" dist="50800" dir="2700000">
              <a:srgbClr val="B7C3C9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51192" y="1408176"/>
            <a:ext cx="566928" cy="566928"/>
          </a:xfrm>
          <a:prstGeom prst="ellipse">
            <a:avLst/>
          </a:prstGeom>
          <a:solidFill>
            <a:srgbClr val="F5B83D">
              <a:alpha val="18000"/>
            </a:srgbClr>
          </a:solidFill>
          <a:ln w="12700">
            <a:solidFill>
              <a:srgbClr val="F5B83D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24928" y="1581912"/>
            <a:ext cx="219456" cy="219456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9560" y="13533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73B5C"/>
                </a:solidFill>
              </a:rPr>
              <a:t>Current Employees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7909560" y="15910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3B5C"/>
                </a:solidFill>
              </a:rPr>
              <a:t>1,233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281160" y="123444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sx="100000" sy="100000" kx="0" ky="0" algn="bl" rotWithShape="0" blurRad="15240" dist="50800" dir="2700000">
              <a:srgbClr val="B7C3C9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445752" y="1408176"/>
            <a:ext cx="566928" cy="566928"/>
          </a:xfrm>
          <a:prstGeom prst="ellipse">
            <a:avLst/>
          </a:prstGeom>
          <a:solidFill>
            <a:srgbClr val="D62828">
              <a:alpha val="18000"/>
            </a:srgbClr>
          </a:solidFill>
          <a:ln w="12700">
            <a:solidFill>
              <a:srgbClr val="D6282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19488" y="1581912"/>
            <a:ext cx="219456" cy="219456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04120" y="135331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73B5C"/>
                </a:solidFill>
              </a:rPr>
              <a:t>High-Risk Employees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10104120" y="15910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2828"/>
                </a:solidFill>
              </a:rPr>
              <a:t>68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104120" y="192938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2828"/>
                </a:solidFill>
              </a:rPr>
              <a:t>5.5% of current workforce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2920" y="2395728"/>
            <a:ext cx="544068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sx="100000" sy="100000" kx="0" ky="0" algn="bl" rotWithShape="0" blurRad="15240" dist="50800" dir="2700000">
              <a:srgbClr val="B7C3C9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7240" y="26517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3B5C"/>
                </a:solidFill>
              </a:rPr>
              <a:t>What the data says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04672" y="3154680"/>
            <a:ext cx="310896" cy="310896"/>
          </a:xfrm>
          <a:prstGeom prst="roundRect">
            <a:avLst/>
          </a:prstGeom>
          <a:solidFill>
            <a:srgbClr val="C45112"/>
          </a:solidFill>
          <a:ln w="12700">
            <a:solidFill>
              <a:srgbClr val="C451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4964" y="3163824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16152" y="31363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B5C"/>
                </a:solidFill>
              </a:rPr>
              <a:t>Attrition is not evenly distributed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16152" y="3502152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0323F"/>
                </a:solidFill>
              </a:rPr>
              <a:t>Sales has the highest department attrition rate (20.63%), while R&amp;D has the highest absolute number of leavers (133).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804672" y="4206240"/>
            <a:ext cx="310896" cy="310896"/>
          </a:xfrm>
          <a:prstGeom prst="roundRect">
            <a:avLst/>
          </a:prstGeom>
          <a:solidFill>
            <a:srgbClr val="C45112"/>
          </a:solidFill>
          <a:ln w="12700">
            <a:solidFill>
              <a:srgbClr val="C451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4964" y="4215384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216152" y="418795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B5C"/>
                </a:solidFill>
              </a:rPr>
              <a:t>Workload is the clearest operational signal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216152" y="4553712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0323F"/>
                </a:solidFill>
              </a:rPr>
              <a:t>Employees working overtime leave at 30.53% versus 10.44% for employees without overtime — almost 3× higher.</a:t>
            </a:r>
            <a:endParaRPr lang="en-US" sz="1220" dirty="0"/>
          </a:p>
        </p:txBody>
      </p:sp>
      <p:sp>
        <p:nvSpPr>
          <p:cNvPr id="40" name="Shape 38"/>
          <p:cNvSpPr/>
          <p:nvPr/>
        </p:nvSpPr>
        <p:spPr>
          <a:xfrm>
            <a:off x="804672" y="5239512"/>
            <a:ext cx="310896" cy="310896"/>
          </a:xfrm>
          <a:prstGeom prst="roundRect">
            <a:avLst/>
          </a:prstGeom>
          <a:solidFill>
            <a:srgbClr val="C45112"/>
          </a:solidFill>
          <a:ln w="12700">
            <a:solidFill>
              <a:srgbClr val="C451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4964" y="5248656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216152" y="52212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B5C"/>
                </a:solidFill>
              </a:rPr>
              <a:t>Current risk can be prioritised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216152" y="555955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0323F"/>
                </a:solidFill>
              </a:rPr>
              <a:t>68 current employees are classified High Risk using the rule-based risk score, enabling targeted retention outreach.</a:t>
            </a:r>
            <a:endParaRPr lang="en-US" sz="1180" dirty="0"/>
          </a:p>
        </p:txBody>
      </p:sp>
      <p:sp>
        <p:nvSpPr>
          <p:cNvPr id="44" name="Shape 42"/>
          <p:cNvSpPr/>
          <p:nvPr/>
        </p:nvSpPr>
        <p:spPr>
          <a:xfrm>
            <a:off x="6172200" y="2395728"/>
            <a:ext cx="5486400" cy="3703320"/>
          </a:xfrm>
          <a:prstGeom prst="roundRect">
            <a:avLst>
              <a:gd name="adj" fmla="val 2963"/>
            </a:avLst>
          </a:prstGeom>
          <a:solidFill>
            <a:srgbClr val="073B5C"/>
          </a:solidFill>
          <a:ln w="12700">
            <a:solidFill>
              <a:srgbClr val="073B5C"/>
            </a:solidFill>
            <a:prstDash val="solid"/>
          </a:ln>
          <a:effectLst>
            <a:outerShdw sx="100000" sy="100000" kx="0" ky="0" algn="bl" rotWithShape="0" blurRad="15240" dist="50800" dir="2700000">
              <a:srgbClr val="B7C3C9">
                <a:alpha val="1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473952" y="26700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Management focus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446520" y="3182112"/>
            <a:ext cx="329184" cy="32918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320954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12864" y="3172968"/>
            <a:ext cx="4517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FFFFFF"/>
                </a:solidFill>
              </a:rPr>
              <a:t>Reduce avoidable overtime</a:t>
            </a:r>
            <a:endParaRPr lang="en-US" sz="1230" dirty="0"/>
          </a:p>
        </p:txBody>
      </p:sp>
      <p:sp>
        <p:nvSpPr>
          <p:cNvPr id="49" name="Text 47"/>
          <p:cNvSpPr/>
          <p:nvPr/>
        </p:nvSpPr>
        <p:spPr>
          <a:xfrm>
            <a:off x="6912864" y="3433572"/>
            <a:ext cx="4517136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D6E6ED"/>
                </a:solidFill>
              </a:rPr>
              <a:t>Review workload, staffing and manager-level overtime concentration.</a:t>
            </a:r>
            <a:endParaRPr lang="en-US" sz="1030" dirty="0"/>
          </a:p>
        </p:txBody>
      </p:sp>
      <p:sp>
        <p:nvSpPr>
          <p:cNvPr id="50" name="Shape 48"/>
          <p:cNvSpPr/>
          <p:nvPr/>
        </p:nvSpPr>
        <p:spPr>
          <a:xfrm>
            <a:off x="6446520" y="3762716"/>
            <a:ext cx="329184" cy="32918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46520" y="379014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12864" y="3753572"/>
            <a:ext cx="4517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FFFFFF"/>
                </a:solidFill>
              </a:rPr>
              <a:t>Protect early-career talent</a:t>
            </a:r>
            <a:endParaRPr lang="en-US" sz="1230" dirty="0"/>
          </a:p>
        </p:txBody>
      </p:sp>
      <p:sp>
        <p:nvSpPr>
          <p:cNvPr id="53" name="Text 51"/>
          <p:cNvSpPr/>
          <p:nvPr/>
        </p:nvSpPr>
        <p:spPr>
          <a:xfrm>
            <a:off x="6912864" y="4014176"/>
            <a:ext cx="4517136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D6E6ED"/>
                </a:solidFill>
              </a:rPr>
              <a:t>18–24 attrition is 39.18%; 25–34 is 20.22%.</a:t>
            </a:r>
            <a:endParaRPr lang="en-US" sz="1030" dirty="0"/>
          </a:p>
        </p:txBody>
      </p:sp>
      <p:sp>
        <p:nvSpPr>
          <p:cNvPr id="54" name="Shape 52"/>
          <p:cNvSpPr/>
          <p:nvPr/>
        </p:nvSpPr>
        <p:spPr>
          <a:xfrm>
            <a:off x="6446520" y="4343320"/>
            <a:ext cx="329184" cy="32918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46520" y="437075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912864" y="4334176"/>
            <a:ext cx="4517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FFFFFF"/>
                </a:solidFill>
              </a:rPr>
              <a:t>Target high-risk roles</a:t>
            </a:r>
            <a:endParaRPr lang="en-US" sz="1230" dirty="0"/>
          </a:p>
        </p:txBody>
      </p:sp>
      <p:sp>
        <p:nvSpPr>
          <p:cNvPr id="57" name="Text 55"/>
          <p:cNvSpPr/>
          <p:nvPr/>
        </p:nvSpPr>
        <p:spPr>
          <a:xfrm>
            <a:off x="6912864" y="4594780"/>
            <a:ext cx="4517136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D6E6ED"/>
                </a:solidFill>
              </a:rPr>
              <a:t>Sales Representatives and Laboratory Technicians need focused intervention.</a:t>
            </a:r>
            <a:endParaRPr lang="en-US" sz="1030" dirty="0"/>
          </a:p>
        </p:txBody>
      </p:sp>
      <p:sp>
        <p:nvSpPr>
          <p:cNvPr id="58" name="Shape 56"/>
          <p:cNvSpPr/>
          <p:nvPr/>
        </p:nvSpPr>
        <p:spPr>
          <a:xfrm>
            <a:off x="6446520" y="4923924"/>
            <a:ext cx="329184" cy="32918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46520" y="495135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912864" y="4914780"/>
            <a:ext cx="4517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FFFFFF"/>
                </a:solidFill>
              </a:rPr>
              <a:t>Review pay + satisfaction</a:t>
            </a:r>
            <a:endParaRPr lang="en-US" sz="1230" dirty="0"/>
          </a:p>
        </p:txBody>
      </p:sp>
      <p:sp>
        <p:nvSpPr>
          <p:cNvPr id="61" name="Text 59"/>
          <p:cNvSpPr/>
          <p:nvPr/>
        </p:nvSpPr>
        <p:spPr>
          <a:xfrm>
            <a:off x="6912864" y="5175384"/>
            <a:ext cx="4517136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D6E6ED"/>
                </a:solidFill>
              </a:rPr>
              <a:t>Very-low-income and very-dissatisfied groups show elevated attrition.</a:t>
            </a:r>
            <a:endParaRPr lang="en-US" sz="1030" dirty="0"/>
          </a:p>
        </p:txBody>
      </p:sp>
      <p:sp>
        <p:nvSpPr>
          <p:cNvPr id="62" name="Text 60"/>
          <p:cNvSpPr/>
          <p:nvPr/>
        </p:nvSpPr>
        <p:spPr>
          <a:xfrm>
            <a:off x="6473952" y="55961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4D4"/>
                </a:solidFill>
              </a:rPr>
              <a:t>Supporting KPIs: Average age 37 • Average monthly income £6,502.93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C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turnover is concentrated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22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984"/>
                </a:solidFill>
              </a:rPr>
              <a:t>Department scale and job-role risk tell different — but complementary — stories.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5715000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sx="100000" sy="100000" kx="0" ky="0" algn="bl" rotWithShape="0" blurRad="15240" dist="50800" dir="2700000">
              <a:srgbClr val="B7C3C9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4813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73B5C"/>
                </a:solidFill>
              </a:rPr>
              <a:t>Employees left &amp; attrition rate by department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04672" y="18013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984"/>
                </a:solidFill>
              </a:rPr>
              <a:t>Bars = employees left   •   Line = attrition rate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1234440" y="2628900"/>
            <a:ext cx="658368" cy="2692908"/>
          </a:xfrm>
          <a:prstGeom prst="rect">
            <a:avLst/>
          </a:prstGeom>
          <a:solidFill>
            <a:srgbClr val="17657F"/>
          </a:solidFill>
          <a:ln w="12700">
            <a:solidFill>
              <a:srgbClr val="1765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37286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3B5C"/>
                </a:solidFill>
              </a:rPr>
              <a:t>133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23544" y="54315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323F"/>
                </a:solidFill>
              </a:rPr>
              <a:t>R&amp;D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71800" y="5078839"/>
            <a:ext cx="658368" cy="242969"/>
          </a:xfrm>
          <a:prstGeom prst="rect">
            <a:avLst/>
          </a:prstGeom>
          <a:solidFill>
            <a:srgbClr val="B9D7E5"/>
          </a:solidFill>
          <a:ln w="12700">
            <a:solidFill>
              <a:srgbClr val="B9D7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4822807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3B5C"/>
                </a:solidFill>
              </a:rPr>
              <a:t>12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60904" y="54315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323F"/>
                </a:solidFill>
              </a:rPr>
              <a:t>Human Resources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3459045"/>
            <a:ext cx="658368" cy="1862763"/>
          </a:xfrm>
          <a:prstGeom prst="rect">
            <a:avLst/>
          </a:prstGeom>
          <a:solidFill>
            <a:srgbClr val="17657F"/>
          </a:solidFill>
          <a:ln w="12700">
            <a:solidFill>
              <a:srgbClr val="1765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3203013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3B5C"/>
                </a:solidFill>
              </a:rPr>
              <a:t>92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98264" y="54315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323F"/>
                </a:solidFill>
              </a:rPr>
              <a:t>Sales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563624" y="3724315"/>
            <a:ext cx="1737360" cy="-504987"/>
          </a:xfrm>
          <a:prstGeom prst="line">
            <a:avLst/>
          </a:prstGeom>
          <a:noFill/>
          <a:ln w="25400">
            <a:solidFill>
              <a:srgbClr val="C4511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300984" y="3219328"/>
            <a:ext cx="1737360" cy="-153144"/>
          </a:xfrm>
          <a:prstGeom prst="line">
            <a:avLst/>
          </a:prstGeom>
          <a:noFill/>
          <a:ln w="25400">
            <a:solidFill>
              <a:srgbClr val="C4511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490472" y="3651163"/>
            <a:ext cx="146304" cy="146304"/>
          </a:xfrm>
          <a:prstGeom prst="ellipse">
            <a:avLst/>
          </a:prstGeom>
          <a:solidFill>
            <a:srgbClr val="C45112"/>
          </a:solidFill>
          <a:ln w="12700">
            <a:solidFill>
              <a:srgbClr val="C451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" y="3340267"/>
            <a:ext cx="713232" cy="274320"/>
          </a:xfrm>
          <a:prstGeom prst="roundRect">
            <a:avLst/>
          </a:prstGeom>
          <a:solidFill>
            <a:srgbClr val="F0A913"/>
          </a:solidFill>
          <a:ln w="12700">
            <a:solidFill>
              <a:srgbClr val="F0A91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07008" y="3395131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3B5C"/>
                </a:solidFill>
              </a:rPr>
              <a:t>13.84%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27832" y="3146176"/>
            <a:ext cx="146304" cy="146304"/>
          </a:xfrm>
          <a:prstGeom prst="ellipse">
            <a:avLst/>
          </a:prstGeom>
          <a:solidFill>
            <a:srgbClr val="C45112"/>
          </a:solidFill>
          <a:ln w="12700">
            <a:solidFill>
              <a:srgbClr val="C4511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44368" y="2835280"/>
            <a:ext cx="713232" cy="274320"/>
          </a:xfrm>
          <a:prstGeom prst="roundRect">
            <a:avLst/>
          </a:prstGeom>
          <a:solidFill>
            <a:srgbClr val="F0A913"/>
          </a:solidFill>
          <a:ln w="12700">
            <a:solidFill>
              <a:srgbClr val="F0A9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44368" y="289014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3B5C"/>
                </a:solidFill>
              </a:rPr>
              <a:t>19.05%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65192" y="2993032"/>
            <a:ext cx="146304" cy="146304"/>
          </a:xfrm>
          <a:prstGeom prst="ellipse">
            <a:avLst/>
          </a:prstGeom>
          <a:solidFill>
            <a:srgbClr val="C45112"/>
          </a:solidFill>
          <a:ln w="12700">
            <a:solidFill>
              <a:srgbClr val="C4511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1728" y="2682136"/>
            <a:ext cx="713232" cy="274320"/>
          </a:xfrm>
          <a:prstGeom prst="roundRect">
            <a:avLst/>
          </a:prstGeom>
          <a:solidFill>
            <a:srgbClr val="F0A913"/>
          </a:solidFill>
          <a:ln w="12700">
            <a:solidFill>
              <a:srgbClr val="F0A91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273700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3B5C"/>
                </a:solidFill>
              </a:rPr>
              <a:t>20.63%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69264" y="5907024"/>
            <a:ext cx="4800600" cy="365760"/>
          </a:xfrm>
          <a:prstGeom prst="roundRect">
            <a:avLst/>
          </a:prstGeom>
          <a:solidFill>
            <a:srgbClr val="17657F">
              <a:alpha val="12000"/>
            </a:srgbClr>
          </a:solidFill>
          <a:ln w="12700">
            <a:solidFill>
              <a:srgbClr val="17657F">
                <a:alpha val="2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8136" y="5984748"/>
            <a:ext cx="4562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657F"/>
                </a:solidFill>
              </a:rPr>
              <a:t>R&amp;D loses the most people; Sales has the highest department rate.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46520" y="1234440"/>
            <a:ext cx="5212080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sx="100000" sy="100000" kx="0" ky="0" algn="bl" rotWithShape="0" blurRad="15240" dist="50800" dir="2700000">
              <a:srgbClr val="B7C3C9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48272" y="1481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3B5C"/>
                </a:solidFill>
              </a:rPr>
              <a:t>Attrition rate by job role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675120" y="202082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0323F"/>
                </a:solidFill>
              </a:rPr>
              <a:t>Sales Representative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403336" y="2052828"/>
            <a:ext cx="2843784" cy="146304"/>
          </a:xfrm>
          <a:prstGeom prst="rect">
            <a:avLst/>
          </a:prstGeom>
          <a:solidFill>
            <a:srgbClr val="EDF4F7"/>
          </a:solidFill>
          <a:ln w="12700">
            <a:solidFill>
              <a:srgbClr val="EDF4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03336" y="2052828"/>
            <a:ext cx="2692116" cy="146304"/>
          </a:xfrm>
          <a:prstGeom prst="rect">
            <a:avLst/>
          </a:prstGeom>
          <a:solidFill>
            <a:srgbClr val="17657F"/>
          </a:solidFill>
          <a:ln w="12700">
            <a:solidFill>
              <a:srgbClr val="17657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141172" y="202082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657F"/>
                </a:solidFill>
              </a:rPr>
              <a:t>39.76%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675120" y="242316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0323F"/>
                </a:solidFill>
              </a:rPr>
              <a:t>Laboratory Technician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403336" y="2455164"/>
            <a:ext cx="2843784" cy="146304"/>
          </a:xfrm>
          <a:prstGeom prst="rect">
            <a:avLst/>
          </a:prstGeom>
          <a:solidFill>
            <a:srgbClr val="EDF4F7"/>
          </a:solidFill>
          <a:ln w="12700">
            <a:solidFill>
              <a:srgbClr val="EDF4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03336" y="2455164"/>
            <a:ext cx="1620957" cy="146304"/>
          </a:xfrm>
          <a:prstGeom prst="rect">
            <a:avLst/>
          </a:prstGeom>
          <a:solidFill>
            <a:srgbClr val="17657F"/>
          </a:solidFill>
          <a:ln w="12700">
            <a:solidFill>
              <a:srgbClr val="17657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70013" y="242316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657F"/>
                </a:solidFill>
              </a:rPr>
              <a:t>23.94%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6675120" y="282549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0323F"/>
                </a:solidFill>
              </a:rPr>
              <a:t>Human Resources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403336" y="2857500"/>
            <a:ext cx="2843784" cy="146304"/>
          </a:xfrm>
          <a:prstGeom prst="rect">
            <a:avLst/>
          </a:prstGeom>
          <a:solidFill>
            <a:srgbClr val="EDF4F7"/>
          </a:solidFill>
          <a:ln w="12700">
            <a:solidFill>
              <a:srgbClr val="EDF4F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03336" y="2857500"/>
            <a:ext cx="1562727" cy="146304"/>
          </a:xfrm>
          <a:prstGeom prst="rect">
            <a:avLst/>
          </a:prstGeom>
          <a:solidFill>
            <a:srgbClr val="17657F"/>
          </a:solidFill>
          <a:ln w="12700">
            <a:solidFill>
              <a:srgbClr val="17657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11783" y="282549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657F"/>
                </a:solidFill>
              </a:rPr>
              <a:t>23.08%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6675120" y="322783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0323F"/>
                </a:solidFill>
              </a:rPr>
              <a:t>Sales Executive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403336" y="3259836"/>
            <a:ext cx="2843784" cy="146304"/>
          </a:xfrm>
          <a:prstGeom prst="rect">
            <a:avLst/>
          </a:prstGeom>
          <a:solidFill>
            <a:srgbClr val="EDF4F7"/>
          </a:solidFill>
          <a:ln w="12700">
            <a:solidFill>
              <a:srgbClr val="EDF4F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03336" y="3259836"/>
            <a:ext cx="1183556" cy="146304"/>
          </a:xfrm>
          <a:prstGeom prst="rect">
            <a:avLst/>
          </a:prstGeom>
          <a:solidFill>
            <a:srgbClr val="17657F"/>
          </a:solidFill>
          <a:ln w="12700">
            <a:solidFill>
              <a:srgbClr val="17657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32612" y="322783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657F"/>
                </a:solidFill>
              </a:rPr>
              <a:t>17.48%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6675120" y="363016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0323F"/>
                </a:solidFill>
              </a:rPr>
              <a:t>Research Scientist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403336" y="3662172"/>
            <a:ext cx="2843784" cy="146304"/>
          </a:xfrm>
          <a:prstGeom prst="rect">
            <a:avLst/>
          </a:prstGeom>
          <a:solidFill>
            <a:srgbClr val="EDF4F7"/>
          </a:solidFill>
          <a:ln w="12700">
            <a:solidFill>
              <a:srgbClr val="EDF4F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03336" y="3662172"/>
            <a:ext cx="1090117" cy="146304"/>
          </a:xfrm>
          <a:prstGeom prst="rect">
            <a:avLst/>
          </a:prstGeom>
          <a:solidFill>
            <a:srgbClr val="17657F"/>
          </a:solidFill>
          <a:ln w="12700">
            <a:solidFill>
              <a:srgbClr val="17657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539173" y="3630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657F"/>
                </a:solidFill>
              </a:rPr>
              <a:t>16.10%</a:t>
            </a:r>
            <a:endParaRPr lang="en-US" sz="920" dirty="0"/>
          </a:p>
        </p:txBody>
      </p:sp>
      <p:sp>
        <p:nvSpPr>
          <p:cNvPr id="51" name="Text 49"/>
          <p:cNvSpPr/>
          <p:nvPr/>
        </p:nvSpPr>
        <p:spPr>
          <a:xfrm>
            <a:off x="6675120" y="403250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0323F"/>
                </a:solidFill>
              </a:rPr>
              <a:t>Manufacturing Director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403336" y="4064508"/>
            <a:ext cx="2843784" cy="146304"/>
          </a:xfrm>
          <a:prstGeom prst="rect">
            <a:avLst/>
          </a:prstGeom>
          <a:solidFill>
            <a:srgbClr val="EDF4F7"/>
          </a:solidFill>
          <a:ln w="12700">
            <a:solidFill>
              <a:srgbClr val="EDF4F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03336" y="4064508"/>
            <a:ext cx="467193" cy="146304"/>
          </a:xfrm>
          <a:prstGeom prst="rect">
            <a:avLst/>
          </a:prstGeom>
          <a:solidFill>
            <a:srgbClr val="B9D7E5"/>
          </a:solidFill>
          <a:ln w="12700">
            <a:solidFill>
              <a:srgbClr val="B9D7E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16249" y="403250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B9D7E5"/>
                </a:solidFill>
              </a:rPr>
              <a:t>6.90%</a:t>
            </a:r>
            <a:endParaRPr lang="en-US" sz="920" dirty="0"/>
          </a:p>
        </p:txBody>
      </p:sp>
      <p:sp>
        <p:nvSpPr>
          <p:cNvPr id="55" name="Text 53"/>
          <p:cNvSpPr/>
          <p:nvPr/>
        </p:nvSpPr>
        <p:spPr>
          <a:xfrm>
            <a:off x="6675120" y="443484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0323F"/>
                </a:solidFill>
              </a:rPr>
              <a:t>Healthcare Representative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403336" y="4466844"/>
            <a:ext cx="2843784" cy="146304"/>
          </a:xfrm>
          <a:prstGeom prst="rect">
            <a:avLst/>
          </a:prstGeom>
          <a:solidFill>
            <a:srgbClr val="EDF4F7"/>
          </a:solidFill>
          <a:ln w="12700">
            <a:solidFill>
              <a:srgbClr val="EDF4F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03336" y="4466844"/>
            <a:ext cx="465162" cy="146304"/>
          </a:xfrm>
          <a:prstGeom prst="rect">
            <a:avLst/>
          </a:prstGeom>
          <a:solidFill>
            <a:srgbClr val="B9D7E5"/>
          </a:solidFill>
          <a:ln w="12700">
            <a:solidFill>
              <a:srgbClr val="B9D7E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14218" y="443484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B9D7E5"/>
                </a:solidFill>
              </a:rPr>
              <a:t>6.87%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6675120" y="483717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0323F"/>
                </a:solidFill>
              </a:rPr>
              <a:t>Manager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403336" y="4869180"/>
            <a:ext cx="2843784" cy="146304"/>
          </a:xfrm>
          <a:prstGeom prst="rect">
            <a:avLst/>
          </a:prstGeom>
          <a:solidFill>
            <a:srgbClr val="EDF4F7"/>
          </a:solidFill>
          <a:ln w="12700">
            <a:solidFill>
              <a:srgbClr val="EDF4F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403336" y="4869180"/>
            <a:ext cx="331775" cy="146304"/>
          </a:xfrm>
          <a:prstGeom prst="rect">
            <a:avLst/>
          </a:prstGeom>
          <a:solidFill>
            <a:srgbClr val="B9D7E5"/>
          </a:solidFill>
          <a:ln w="12700">
            <a:solidFill>
              <a:srgbClr val="B9D7E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80831" y="483717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B9D7E5"/>
                </a:solidFill>
              </a:rPr>
              <a:t>4.90%</a:t>
            </a:r>
            <a:endParaRPr lang="en-US" sz="920" dirty="0"/>
          </a:p>
        </p:txBody>
      </p:sp>
      <p:sp>
        <p:nvSpPr>
          <p:cNvPr id="63" name="Text 61"/>
          <p:cNvSpPr/>
          <p:nvPr/>
        </p:nvSpPr>
        <p:spPr>
          <a:xfrm>
            <a:off x="6675120" y="52395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0323F"/>
                </a:solidFill>
              </a:rPr>
              <a:t>Research Director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8403336" y="5271516"/>
            <a:ext cx="2843784" cy="146304"/>
          </a:xfrm>
          <a:prstGeom prst="rect">
            <a:avLst/>
          </a:prstGeom>
          <a:solidFill>
            <a:srgbClr val="EDF4F7"/>
          </a:solidFill>
          <a:ln w="12700">
            <a:solidFill>
              <a:srgbClr val="EDF4F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403336" y="5271516"/>
            <a:ext cx="169273" cy="146304"/>
          </a:xfrm>
          <a:prstGeom prst="rect">
            <a:avLst/>
          </a:prstGeom>
          <a:solidFill>
            <a:srgbClr val="B9D7E5"/>
          </a:solidFill>
          <a:ln w="12700">
            <a:solidFill>
              <a:srgbClr val="B9D7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18329" y="523951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B9D7E5"/>
                </a:solidFill>
              </a:rPr>
              <a:t>2.50%</a:t>
            </a:r>
            <a:endParaRPr lang="en-US" sz="920" dirty="0"/>
          </a:p>
        </p:txBody>
      </p:sp>
      <p:sp>
        <p:nvSpPr>
          <p:cNvPr id="67" name="Shape 65"/>
          <p:cNvSpPr/>
          <p:nvPr/>
        </p:nvSpPr>
        <p:spPr>
          <a:xfrm>
            <a:off x="6784848" y="5907024"/>
            <a:ext cx="4535424" cy="365760"/>
          </a:xfrm>
          <a:prstGeom prst="roundRect">
            <a:avLst/>
          </a:prstGeom>
          <a:solidFill>
            <a:srgbClr val="C45112">
              <a:alpha val="12000"/>
            </a:srgbClr>
          </a:solidFill>
          <a:ln w="12700">
            <a:solidFill>
              <a:srgbClr val="C45112">
                <a:alpha val="28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03720" y="59847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45112"/>
                </a:solidFill>
              </a:rPr>
              <a:t>Sales Representatives: 39.76% — 2.5× the overall rate.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C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driving attrition?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22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984"/>
                </a:solidFill>
              </a:rPr>
              <a:t>Four segments consistently stand out: overtime, younger age, lower income and low satisfaction.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74320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sx="100000" sy="100000" kx="0" ky="0" algn="bl" rotWithShape="0" blurRad="15240" dist="50800" dir="2700000">
              <a:srgbClr val="B7C3C9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90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B5C"/>
                </a:solidFill>
              </a:rPr>
              <a:t>Overtime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379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7657F"/>
                </a:solidFill>
              </a:rPr>
              <a:t>30.53% vs 10.44%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3401568" y="1234440"/>
            <a:ext cx="274320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sx="100000" sy="100000" kx="0" ky="0" algn="bl" rotWithShape="0" blurRad="15240" dist="50800" dir="2700000">
              <a:srgbClr val="B7C3C9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30168" y="1490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B5C"/>
                </a:solidFill>
              </a:rPr>
              <a:t>Age group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30168" y="18379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7657F"/>
                </a:solidFill>
              </a:rPr>
              <a:t>18–24 peaks at 39.18%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6300216" y="1234440"/>
            <a:ext cx="274320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sx="100000" sy="100000" kx="0" ky="0" algn="bl" rotWithShape="0" blurRad="15240" dist="50800" dir="2700000">
              <a:srgbClr val="B7C3C9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28816" y="1490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B5C"/>
                </a:solidFill>
              </a:rPr>
              <a:t>Income band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28816" y="18379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7657F"/>
                </a:solidFill>
              </a:rPr>
              <a:t>Very Low Income: 25.23%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9198864" y="1234440"/>
            <a:ext cx="2487168" cy="44805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sx="100000" sy="100000" kx="0" ky="0" algn="bl" rotWithShape="0" blurRad="15240" dist="50800" dir="2700000">
              <a:srgbClr val="B7C3C9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27464" y="149047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B5C"/>
                </a:solidFill>
              </a:rPr>
              <a:t>Job satisfaction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27464" y="1837944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7657F"/>
                </a:solidFill>
              </a:rPr>
              <a:t>Very Dissatisfied: 22.84%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68680" y="3968705"/>
            <a:ext cx="530352" cy="831895"/>
          </a:xfrm>
          <a:prstGeom prst="rect">
            <a:avLst/>
          </a:prstGeom>
          <a:solidFill>
            <a:srgbClr val="B9D7E5"/>
          </a:solidFill>
          <a:ln w="12700">
            <a:solidFill>
              <a:srgbClr val="B9D7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712673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657F"/>
                </a:solidFill>
              </a:rPr>
              <a:t>10.44%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488289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323F"/>
                </a:solidFill>
              </a:rPr>
              <a:t>No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938528" y="2367865"/>
            <a:ext cx="530352" cy="2432735"/>
          </a:xfrm>
          <a:prstGeom prst="rect">
            <a:avLst/>
          </a:prstGeom>
          <a:solidFill>
            <a:srgbClr val="17657F"/>
          </a:solidFill>
          <a:ln w="12700">
            <a:solidFill>
              <a:srgbClr val="1765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65376" y="2111833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657F"/>
                </a:solidFill>
              </a:rPr>
              <a:t>30.53%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38528" y="488289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323F"/>
                </a:solidFill>
              </a:rPr>
              <a:t>Yes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52303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20323F"/>
                </a:solidFill>
              </a:rPr>
              <a:t>Overtime employees leave at nearly 3× the rate.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3639312" y="2695521"/>
            <a:ext cx="256032" cy="2132511"/>
          </a:xfrm>
          <a:prstGeom prst="rect">
            <a:avLst/>
          </a:prstGeom>
          <a:solidFill>
            <a:srgbClr val="17657F"/>
          </a:solidFill>
          <a:ln w="12700">
            <a:solidFill>
              <a:srgbClr val="17657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83864" y="2466921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657F"/>
                </a:solidFill>
              </a:rPr>
              <a:t>39.18%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557016" y="4919472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0323F"/>
                </a:solidFill>
              </a:rPr>
              <a:t>18–24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4096512" y="3727486"/>
            <a:ext cx="256032" cy="1100546"/>
          </a:xfrm>
          <a:prstGeom prst="rect">
            <a:avLst/>
          </a:prstGeom>
          <a:solidFill>
            <a:srgbClr val="17657F"/>
          </a:solidFill>
          <a:ln w="12700">
            <a:solidFill>
              <a:srgbClr val="17657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41064" y="349888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657F"/>
                </a:solidFill>
              </a:rPr>
              <a:t>20.22%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014216" y="4919472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0323F"/>
                </a:solidFill>
              </a:rPr>
              <a:t>25–34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4553712" y="4278303"/>
            <a:ext cx="256032" cy="549729"/>
          </a:xfrm>
          <a:prstGeom prst="rect">
            <a:avLst/>
          </a:prstGeom>
          <a:solidFill>
            <a:srgbClr val="B9D7E5"/>
          </a:solidFill>
          <a:ln w="12700">
            <a:solidFill>
              <a:srgbClr val="B9D7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98264" y="4049703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657F"/>
                </a:solidFill>
              </a:rPr>
              <a:t>10.10%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471416" y="4919472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0323F"/>
                </a:solidFill>
              </a:rPr>
              <a:t>35–44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5010912" y="4272861"/>
            <a:ext cx="256032" cy="555171"/>
          </a:xfrm>
          <a:prstGeom prst="rect">
            <a:avLst/>
          </a:prstGeom>
          <a:solidFill>
            <a:srgbClr val="B9D7E5"/>
          </a:solidFill>
          <a:ln w="12700">
            <a:solidFill>
              <a:srgbClr val="B9D7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55464" y="4044261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657F"/>
                </a:solidFill>
              </a:rPr>
              <a:t>10.20%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28616" y="4919472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0323F"/>
                </a:solidFill>
              </a:rPr>
              <a:t>45–54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5468112" y="3960441"/>
            <a:ext cx="256032" cy="867591"/>
          </a:xfrm>
          <a:prstGeom prst="rect">
            <a:avLst/>
          </a:prstGeom>
          <a:solidFill>
            <a:srgbClr val="17657F"/>
          </a:solidFill>
          <a:ln w="12700">
            <a:solidFill>
              <a:srgbClr val="17657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12664" y="3731841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657F"/>
                </a:solidFill>
              </a:rPr>
              <a:t>15.94%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385816" y="4919472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0323F"/>
                </a:solidFill>
              </a:rPr>
              <a:t>55+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3602736" y="523036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20323F"/>
                </a:solidFill>
              </a:rPr>
              <a:t>Early-career employees are the clearest age risk.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6510528" y="2768183"/>
            <a:ext cx="256032" cy="2059849"/>
          </a:xfrm>
          <a:prstGeom prst="rect">
            <a:avLst/>
          </a:prstGeom>
          <a:solidFill>
            <a:srgbClr val="17657F"/>
          </a:solidFill>
          <a:ln w="12700">
            <a:solidFill>
              <a:srgbClr val="17657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539583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657F"/>
                </a:solidFill>
              </a:rPr>
              <a:t>25.23%</a:t>
            </a:r>
            <a:endParaRPr lang="en-US" sz="830" dirty="0"/>
          </a:p>
        </p:txBody>
      </p:sp>
      <p:sp>
        <p:nvSpPr>
          <p:cNvPr id="41" name="Text 39"/>
          <p:cNvSpPr/>
          <p:nvPr/>
        </p:nvSpPr>
        <p:spPr>
          <a:xfrm>
            <a:off x="6419088" y="491947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0323F"/>
                </a:solidFill>
              </a:rPr>
              <a:t>Very Low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967728" y="3930777"/>
            <a:ext cx="256032" cy="897255"/>
          </a:xfrm>
          <a:prstGeom prst="rect">
            <a:avLst/>
          </a:prstGeom>
          <a:solidFill>
            <a:srgbClr val="B9D7E5"/>
          </a:solidFill>
          <a:ln w="12700">
            <a:solidFill>
              <a:srgbClr val="B9D7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12280" y="3702177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657F"/>
                </a:solidFill>
              </a:rPr>
              <a:t>10.99%</a:t>
            </a:r>
            <a:endParaRPr lang="en-US" sz="830" dirty="0"/>
          </a:p>
        </p:txBody>
      </p:sp>
      <p:sp>
        <p:nvSpPr>
          <p:cNvPr id="44" name="Text 42"/>
          <p:cNvSpPr/>
          <p:nvPr/>
        </p:nvSpPr>
        <p:spPr>
          <a:xfrm>
            <a:off x="6876288" y="491947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0323F"/>
                </a:solidFill>
              </a:rPr>
              <a:t>Low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424928" y="3555220"/>
            <a:ext cx="256032" cy="1272812"/>
          </a:xfrm>
          <a:prstGeom prst="rect">
            <a:avLst/>
          </a:prstGeom>
          <a:solidFill>
            <a:srgbClr val="17657F"/>
          </a:solidFill>
          <a:ln w="12700">
            <a:solidFill>
              <a:srgbClr val="17657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69480" y="332662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657F"/>
                </a:solidFill>
              </a:rPr>
              <a:t>15.59%</a:t>
            </a:r>
            <a:endParaRPr lang="en-US" sz="830" dirty="0"/>
          </a:p>
        </p:txBody>
      </p:sp>
      <p:sp>
        <p:nvSpPr>
          <p:cNvPr id="47" name="Text 45"/>
          <p:cNvSpPr/>
          <p:nvPr/>
        </p:nvSpPr>
        <p:spPr>
          <a:xfrm>
            <a:off x="7333488" y="491947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0323F"/>
                </a:solidFill>
              </a:rPr>
              <a:t>Moderate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882128" y="4117739"/>
            <a:ext cx="256032" cy="710293"/>
          </a:xfrm>
          <a:prstGeom prst="rect">
            <a:avLst/>
          </a:prstGeom>
          <a:solidFill>
            <a:srgbClr val="B9D7E5"/>
          </a:solidFill>
          <a:ln w="12700">
            <a:solidFill>
              <a:srgbClr val="B9D7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26680" y="3889139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657F"/>
                </a:solidFill>
              </a:rPr>
              <a:t>8.70%</a:t>
            </a:r>
            <a:endParaRPr lang="en-US" sz="830" dirty="0"/>
          </a:p>
        </p:txBody>
      </p:sp>
      <p:sp>
        <p:nvSpPr>
          <p:cNvPr id="50" name="Text 48"/>
          <p:cNvSpPr/>
          <p:nvPr/>
        </p:nvSpPr>
        <p:spPr>
          <a:xfrm>
            <a:off x="7790688" y="491947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0323F"/>
                </a:solidFill>
              </a:rPr>
              <a:t>High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8339328" y="4503910"/>
            <a:ext cx="256032" cy="324122"/>
          </a:xfrm>
          <a:prstGeom prst="rect">
            <a:avLst/>
          </a:prstGeom>
          <a:solidFill>
            <a:srgbClr val="B9D7E5"/>
          </a:solidFill>
          <a:ln w="12700">
            <a:solidFill>
              <a:srgbClr val="B9D7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83880" y="427531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657F"/>
                </a:solidFill>
              </a:rPr>
              <a:t>3.97%</a:t>
            </a:r>
            <a:endParaRPr lang="en-US" sz="830" dirty="0"/>
          </a:p>
        </p:txBody>
      </p:sp>
      <p:sp>
        <p:nvSpPr>
          <p:cNvPr id="53" name="Text 51"/>
          <p:cNvSpPr/>
          <p:nvPr/>
        </p:nvSpPr>
        <p:spPr>
          <a:xfrm>
            <a:off x="8247888" y="491947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0323F"/>
                </a:solidFill>
              </a:rPr>
              <a:t>Very High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492240" y="52303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20323F"/>
                </a:solidFill>
              </a:rPr>
              <a:t>Lower income is associated with higher attrition.</a:t>
            </a:r>
            <a:endParaRPr lang="en-US" sz="940" dirty="0"/>
          </a:p>
        </p:txBody>
      </p:sp>
      <p:sp>
        <p:nvSpPr>
          <p:cNvPr id="55" name="Shape 53"/>
          <p:cNvSpPr/>
          <p:nvPr/>
        </p:nvSpPr>
        <p:spPr>
          <a:xfrm>
            <a:off x="9390888" y="2739542"/>
            <a:ext cx="265176" cy="2088490"/>
          </a:xfrm>
          <a:prstGeom prst="rect">
            <a:avLst/>
          </a:prstGeom>
          <a:solidFill>
            <a:srgbClr val="17657F"/>
          </a:solidFill>
          <a:ln w="12700">
            <a:solidFill>
              <a:srgbClr val="17657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35440" y="251094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7657F"/>
                </a:solidFill>
              </a:rPr>
              <a:t>22.84%</a:t>
            </a:r>
            <a:endParaRPr lang="en-US" sz="810" dirty="0"/>
          </a:p>
        </p:txBody>
      </p:sp>
      <p:sp>
        <p:nvSpPr>
          <p:cNvPr id="57" name="Text 55"/>
          <p:cNvSpPr/>
          <p:nvPr/>
        </p:nvSpPr>
        <p:spPr>
          <a:xfrm>
            <a:off x="9299448" y="4901184"/>
            <a:ext cx="448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20323F"/>
                </a:solidFill>
              </a:rPr>
              <a:t>Very</a:t>
            </a:r>
            <a:endParaRPr lang="en-US" sz="670" dirty="0"/>
          </a:p>
          <a:p>
            <a:pPr algn="ctr" indent="0" marL="0">
              <a:buNone/>
            </a:pPr>
            <a:r>
              <a:rPr lang="en-US" sz="670" dirty="0">
                <a:solidFill>
                  <a:srgbClr val="20323F"/>
                </a:solidFill>
              </a:rPr>
              <a:t>Dissatisfied</a:t>
            </a:r>
            <a:endParaRPr lang="en-US" sz="670" dirty="0"/>
          </a:p>
        </p:txBody>
      </p:sp>
      <p:sp>
        <p:nvSpPr>
          <p:cNvPr id="58" name="Shape 56"/>
          <p:cNvSpPr/>
          <p:nvPr/>
        </p:nvSpPr>
        <p:spPr>
          <a:xfrm>
            <a:off x="9875520" y="3325673"/>
            <a:ext cx="265176" cy="1502359"/>
          </a:xfrm>
          <a:prstGeom prst="rect">
            <a:avLst/>
          </a:prstGeom>
          <a:solidFill>
            <a:srgbClr val="17657F"/>
          </a:solidFill>
          <a:ln w="12700">
            <a:solidFill>
              <a:srgbClr val="17657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720072" y="3097073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7657F"/>
                </a:solidFill>
              </a:rPr>
              <a:t>16.43%</a:t>
            </a:r>
            <a:endParaRPr lang="en-US" sz="810" dirty="0"/>
          </a:p>
        </p:txBody>
      </p:sp>
      <p:sp>
        <p:nvSpPr>
          <p:cNvPr id="60" name="Text 58"/>
          <p:cNvSpPr/>
          <p:nvPr/>
        </p:nvSpPr>
        <p:spPr>
          <a:xfrm>
            <a:off x="9784080" y="4901184"/>
            <a:ext cx="448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20323F"/>
                </a:solidFill>
              </a:rPr>
              <a:t>Dissatisfied</a:t>
            </a:r>
            <a:endParaRPr lang="en-US" sz="670" dirty="0"/>
          </a:p>
        </p:txBody>
      </p:sp>
      <p:sp>
        <p:nvSpPr>
          <p:cNvPr id="61" name="Shape 59"/>
          <p:cNvSpPr/>
          <p:nvPr/>
        </p:nvSpPr>
        <p:spPr>
          <a:xfrm>
            <a:off x="10360152" y="3317443"/>
            <a:ext cx="265176" cy="1510589"/>
          </a:xfrm>
          <a:prstGeom prst="rect">
            <a:avLst/>
          </a:prstGeom>
          <a:solidFill>
            <a:srgbClr val="17657F"/>
          </a:solidFill>
          <a:ln w="12700">
            <a:solidFill>
              <a:srgbClr val="17657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204704" y="3088843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7657F"/>
                </a:solidFill>
              </a:rPr>
              <a:t>16.52%</a:t>
            </a:r>
            <a:endParaRPr lang="en-US" sz="810" dirty="0"/>
          </a:p>
        </p:txBody>
      </p:sp>
      <p:sp>
        <p:nvSpPr>
          <p:cNvPr id="63" name="Text 61"/>
          <p:cNvSpPr/>
          <p:nvPr/>
        </p:nvSpPr>
        <p:spPr>
          <a:xfrm>
            <a:off x="10268712" y="4901184"/>
            <a:ext cx="448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20323F"/>
                </a:solidFill>
              </a:rPr>
              <a:t>Satisfied</a:t>
            </a:r>
            <a:endParaRPr lang="en-US" sz="670" dirty="0"/>
          </a:p>
        </p:txBody>
      </p:sp>
      <p:sp>
        <p:nvSpPr>
          <p:cNvPr id="64" name="Shape 62"/>
          <p:cNvSpPr/>
          <p:nvPr/>
        </p:nvSpPr>
        <p:spPr>
          <a:xfrm>
            <a:off x="10844784" y="3792017"/>
            <a:ext cx="265176" cy="1036015"/>
          </a:xfrm>
          <a:prstGeom prst="rect">
            <a:avLst/>
          </a:prstGeom>
          <a:solidFill>
            <a:srgbClr val="B9D7E5"/>
          </a:solidFill>
          <a:ln w="12700">
            <a:solidFill>
              <a:srgbClr val="B9D7E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689336" y="3563417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7657F"/>
                </a:solidFill>
              </a:rPr>
              <a:t>11.33%</a:t>
            </a:r>
            <a:endParaRPr lang="en-US" sz="810" dirty="0"/>
          </a:p>
        </p:txBody>
      </p:sp>
      <p:sp>
        <p:nvSpPr>
          <p:cNvPr id="66" name="Text 64"/>
          <p:cNvSpPr/>
          <p:nvPr/>
        </p:nvSpPr>
        <p:spPr>
          <a:xfrm>
            <a:off x="10753344" y="4901184"/>
            <a:ext cx="448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20323F"/>
                </a:solidFill>
              </a:rPr>
              <a:t>Very</a:t>
            </a:r>
            <a:endParaRPr lang="en-US" sz="670" dirty="0"/>
          </a:p>
          <a:p>
            <a:pPr algn="ctr" indent="0" marL="0">
              <a:buNone/>
            </a:pPr>
            <a:r>
              <a:rPr lang="en-US" sz="670" dirty="0">
                <a:solidFill>
                  <a:srgbClr val="20323F"/>
                </a:solidFill>
              </a:rPr>
              <a:t>Satisfied</a:t>
            </a:r>
            <a:endParaRPr lang="en-US" sz="670" dirty="0"/>
          </a:p>
        </p:txBody>
      </p:sp>
      <p:sp>
        <p:nvSpPr>
          <p:cNvPr id="67" name="Text 65"/>
          <p:cNvSpPr/>
          <p:nvPr/>
        </p:nvSpPr>
        <p:spPr>
          <a:xfrm>
            <a:off x="9290304" y="52303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0323F"/>
                </a:solidFill>
              </a:rPr>
              <a:t>Very dissatisfied employees show the highest satisfaction-related risk.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3456432" y="5998464"/>
            <a:ext cx="5257800" cy="365760"/>
          </a:xfrm>
          <a:prstGeom prst="roundRect">
            <a:avLst/>
          </a:prstGeom>
          <a:solidFill>
            <a:srgbClr val="17657F">
              <a:alpha val="12000"/>
            </a:srgbClr>
          </a:solidFill>
          <a:ln w="12700">
            <a:solidFill>
              <a:srgbClr val="17657F">
                <a:alpha val="28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575304" y="6076188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657F"/>
                </a:solidFill>
              </a:rPr>
              <a:t>The strongest practical intervention signal is overtime — it is actionable and large.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C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workforce risk exposure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22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984"/>
                </a:solidFill>
              </a:rPr>
              <a:t>Risk scoring prioritises intervention; it is a rule-based risk screen, not a forecast probability.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657600" cy="5074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sx="100000" sy="100000" kx="0" ky="0" algn="bl" rotWithShape="0" blurRad="15240" dist="50800" dir="2700000">
              <a:srgbClr val="B7C3C9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481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3B5C"/>
                </a:solidFill>
              </a:rPr>
              <a:t>Current workforce by attrition risk</a:t>
            </a:r>
            <a:endParaRPr lang="en-US" sz="1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49808" y="1920240"/>
          <a:ext cx="28803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1554480" y="2724912"/>
            <a:ext cx="1234440" cy="1234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73352" y="29443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3B5C"/>
                </a:solidFill>
              </a:rPr>
              <a:t>1,233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27632" y="3291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667984"/>
                </a:solidFill>
              </a:rPr>
              <a:t>current employees</a:t>
            </a:r>
            <a:endParaRPr lang="en-US" sz="970" dirty="0"/>
          </a:p>
        </p:txBody>
      </p:sp>
      <p:sp>
        <p:nvSpPr>
          <p:cNvPr id="10" name="Shape 7"/>
          <p:cNvSpPr/>
          <p:nvPr/>
        </p:nvSpPr>
        <p:spPr>
          <a:xfrm>
            <a:off x="914400" y="4764024"/>
            <a:ext cx="118872" cy="118872"/>
          </a:xfrm>
          <a:prstGeom prst="ellipse">
            <a:avLst/>
          </a:prstGeom>
          <a:solidFill>
            <a:srgbClr val="17657F"/>
          </a:solidFill>
          <a:ln w="12700">
            <a:solidFill>
              <a:srgbClr val="17657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47365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323F"/>
                </a:solidFill>
              </a:rPr>
              <a:t>Low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011680" y="47365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73B5C"/>
                </a:solidFill>
              </a:rPr>
              <a:t>612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670048" y="473659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7657F"/>
                </a:solidFill>
              </a:rPr>
              <a:t>49.6%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14400" y="5148072"/>
            <a:ext cx="118872" cy="11887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15568" y="5120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323F"/>
                </a:solidFill>
              </a:rPr>
              <a:t>Medium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011680" y="51206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73B5C"/>
                </a:solidFill>
              </a:rPr>
              <a:t>553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670048" y="512064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28C28"/>
                </a:solidFill>
              </a:rPr>
              <a:t>44.8%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14400" y="5532120"/>
            <a:ext cx="118872" cy="118872"/>
          </a:xfrm>
          <a:prstGeom prst="ellipse">
            <a:avLst/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15568" y="55046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323F"/>
                </a:solidFill>
              </a:rPr>
              <a:t>High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011680" y="55046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73B5C"/>
                </a:solidFill>
              </a:rPr>
              <a:t>68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670048" y="550468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F8A5B"/>
                </a:solidFill>
              </a:rPr>
              <a:t>5.5%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32104" y="5943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667984"/>
                </a:solidFill>
              </a:rPr>
              <a:t>High Risk = 6+ points • Medium = 3–5 • Low = 0–2</a:t>
            </a:r>
            <a:endParaRPr lang="en-US" sz="870" dirty="0"/>
          </a:p>
        </p:txBody>
      </p:sp>
      <p:sp>
        <p:nvSpPr>
          <p:cNvPr id="23" name="Shape 20"/>
          <p:cNvSpPr/>
          <p:nvPr/>
        </p:nvSpPr>
        <p:spPr>
          <a:xfrm>
            <a:off x="4389120" y="1234440"/>
            <a:ext cx="7269480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sx="100000" sy="100000" kx="0" ky="0" algn="bl" rotWithShape="0" blurRad="15240" dist="50800" dir="2700000">
              <a:srgbClr val="B7C3C9">
                <a:alpha val="1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681728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3B5C"/>
                </a:solidFill>
              </a:rPr>
              <a:t>Top 10 high-risk current employees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45152" y="1938528"/>
          <a:ext cx="6784848" cy="3639312"/>
        </p:xfrm>
        <a:graphic>
          <a:graphicData uri="http://schemas.openxmlformats.org/drawingml/2006/table">
            <a:tbl>
              <a:tblPr/>
              <a:tblGrid>
                <a:gridCol w="758952"/>
                <a:gridCol w="1965960"/>
                <a:gridCol w="1298448"/>
                <a:gridCol w="502920"/>
                <a:gridCol w="438912"/>
                <a:gridCol w="4572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Employee ID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Job Role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Department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2021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Representative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113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Representative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1680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Representative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Laboratory Technician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R&amp;D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59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Laboratory Technician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R&amp;D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351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Laboratory Technician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R&amp;D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666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Representative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758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Laboratory Technician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R&amp;D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939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Research Scientist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R&amp;D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1002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Laboratory Technician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R&amp;D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2032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4645152" y="1938528"/>
            <a:ext cx="6784848" cy="310896"/>
          </a:xfrm>
          <a:prstGeom prst="rect">
            <a:avLst/>
          </a:prstGeom>
          <a:solidFill>
            <a:srgbClr val="073B5C"/>
          </a:solidFill>
          <a:ln w="12700">
            <a:solidFill>
              <a:srgbClr val="073B5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690872" y="201168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Employee ID</a:t>
            </a:r>
            <a:endParaRPr lang="en-US" sz="890" dirty="0"/>
          </a:p>
        </p:txBody>
      </p:sp>
      <p:sp>
        <p:nvSpPr>
          <p:cNvPr id="28" name="Text 24"/>
          <p:cNvSpPr/>
          <p:nvPr/>
        </p:nvSpPr>
        <p:spPr>
          <a:xfrm>
            <a:off x="5422392" y="2011680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Job Role</a:t>
            </a:r>
            <a:endParaRPr lang="en-US" sz="890" dirty="0"/>
          </a:p>
        </p:txBody>
      </p:sp>
      <p:sp>
        <p:nvSpPr>
          <p:cNvPr id="29" name="Text 25"/>
          <p:cNvSpPr/>
          <p:nvPr/>
        </p:nvSpPr>
        <p:spPr>
          <a:xfrm>
            <a:off x="7406640" y="201168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Department</a:t>
            </a:r>
            <a:endParaRPr lang="en-US" sz="890" dirty="0"/>
          </a:p>
        </p:txBody>
      </p:sp>
      <p:sp>
        <p:nvSpPr>
          <p:cNvPr id="30" name="Text 26"/>
          <p:cNvSpPr/>
          <p:nvPr/>
        </p:nvSpPr>
        <p:spPr>
          <a:xfrm>
            <a:off x="8741664" y="201168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Age</a:t>
            </a:r>
            <a:endParaRPr lang="en-US" sz="890" dirty="0"/>
          </a:p>
        </p:txBody>
      </p:sp>
      <p:sp>
        <p:nvSpPr>
          <p:cNvPr id="31" name="Text 27"/>
          <p:cNvSpPr/>
          <p:nvPr/>
        </p:nvSpPr>
        <p:spPr>
          <a:xfrm>
            <a:off x="9235440" y="201168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OT</a:t>
            </a:r>
            <a:endParaRPr lang="en-US" sz="890" dirty="0"/>
          </a:p>
        </p:txBody>
      </p:sp>
      <p:sp>
        <p:nvSpPr>
          <p:cNvPr id="32" name="Text 28"/>
          <p:cNvSpPr/>
          <p:nvPr/>
        </p:nvSpPr>
        <p:spPr>
          <a:xfrm>
            <a:off x="9710928" y="201168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Risk</a:t>
            </a:r>
            <a:endParaRPr lang="en-US" sz="890" dirty="0"/>
          </a:p>
        </p:txBody>
      </p:sp>
      <p:sp>
        <p:nvSpPr>
          <p:cNvPr id="33" name="Text 29"/>
          <p:cNvSpPr/>
          <p:nvPr/>
        </p:nvSpPr>
        <p:spPr>
          <a:xfrm>
            <a:off x="9802368" y="22951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D62828"/>
                </a:solidFill>
              </a:rPr>
              <a:t>10</a:t>
            </a:r>
            <a:endParaRPr lang="en-US" sz="910" dirty="0"/>
          </a:p>
        </p:txBody>
      </p:sp>
      <p:sp>
        <p:nvSpPr>
          <p:cNvPr id="34" name="Text 30"/>
          <p:cNvSpPr/>
          <p:nvPr/>
        </p:nvSpPr>
        <p:spPr>
          <a:xfrm>
            <a:off x="9802368" y="25877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D62828"/>
                </a:solidFill>
              </a:rPr>
              <a:t>8</a:t>
            </a:r>
            <a:endParaRPr lang="en-US" sz="910" dirty="0"/>
          </a:p>
        </p:txBody>
      </p:sp>
      <p:sp>
        <p:nvSpPr>
          <p:cNvPr id="35" name="Text 31"/>
          <p:cNvSpPr/>
          <p:nvPr/>
        </p:nvSpPr>
        <p:spPr>
          <a:xfrm>
            <a:off x="9802368" y="28803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D62828"/>
                </a:solidFill>
              </a:rPr>
              <a:t>8</a:t>
            </a:r>
            <a:endParaRPr lang="en-US" sz="910" dirty="0"/>
          </a:p>
        </p:txBody>
      </p:sp>
      <p:sp>
        <p:nvSpPr>
          <p:cNvPr id="36" name="Text 32"/>
          <p:cNvSpPr/>
          <p:nvPr/>
        </p:nvSpPr>
        <p:spPr>
          <a:xfrm>
            <a:off x="9802368" y="31729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D62828"/>
                </a:solidFill>
              </a:rPr>
              <a:t>7</a:t>
            </a:r>
            <a:endParaRPr lang="en-US" sz="910" dirty="0"/>
          </a:p>
        </p:txBody>
      </p:sp>
      <p:sp>
        <p:nvSpPr>
          <p:cNvPr id="37" name="Text 33"/>
          <p:cNvSpPr/>
          <p:nvPr/>
        </p:nvSpPr>
        <p:spPr>
          <a:xfrm>
            <a:off x="9802368" y="346557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D62828"/>
                </a:solidFill>
              </a:rPr>
              <a:t>7</a:t>
            </a:r>
            <a:endParaRPr lang="en-US" sz="910" dirty="0"/>
          </a:p>
        </p:txBody>
      </p:sp>
      <p:sp>
        <p:nvSpPr>
          <p:cNvPr id="38" name="Text 34"/>
          <p:cNvSpPr/>
          <p:nvPr/>
        </p:nvSpPr>
        <p:spPr>
          <a:xfrm>
            <a:off x="9802368" y="37581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D62828"/>
                </a:solidFill>
              </a:rPr>
              <a:t>7</a:t>
            </a:r>
            <a:endParaRPr lang="en-US" sz="910" dirty="0"/>
          </a:p>
        </p:txBody>
      </p:sp>
      <p:sp>
        <p:nvSpPr>
          <p:cNvPr id="39" name="Text 35"/>
          <p:cNvSpPr/>
          <p:nvPr/>
        </p:nvSpPr>
        <p:spPr>
          <a:xfrm>
            <a:off x="9802368" y="40507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D62828"/>
                </a:solidFill>
              </a:rPr>
              <a:t>7</a:t>
            </a:r>
            <a:endParaRPr lang="en-US" sz="910" dirty="0"/>
          </a:p>
        </p:txBody>
      </p:sp>
      <p:sp>
        <p:nvSpPr>
          <p:cNvPr id="40" name="Text 36"/>
          <p:cNvSpPr/>
          <p:nvPr/>
        </p:nvSpPr>
        <p:spPr>
          <a:xfrm>
            <a:off x="9802368" y="43434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D62828"/>
                </a:solidFill>
              </a:rPr>
              <a:t>7</a:t>
            </a:r>
            <a:endParaRPr lang="en-US" sz="910" dirty="0"/>
          </a:p>
        </p:txBody>
      </p:sp>
      <p:sp>
        <p:nvSpPr>
          <p:cNvPr id="41" name="Text 37"/>
          <p:cNvSpPr/>
          <p:nvPr/>
        </p:nvSpPr>
        <p:spPr>
          <a:xfrm>
            <a:off x="9802368" y="46360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D62828"/>
                </a:solidFill>
              </a:rPr>
              <a:t>7</a:t>
            </a:r>
            <a:endParaRPr lang="en-US" sz="910" dirty="0"/>
          </a:p>
        </p:txBody>
      </p:sp>
      <p:sp>
        <p:nvSpPr>
          <p:cNvPr id="42" name="Text 38"/>
          <p:cNvSpPr/>
          <p:nvPr/>
        </p:nvSpPr>
        <p:spPr>
          <a:xfrm>
            <a:off x="9802368" y="49286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D62828"/>
                </a:solidFill>
              </a:rPr>
              <a:t>7</a:t>
            </a:r>
            <a:endParaRPr lang="en-US" sz="910" dirty="0"/>
          </a:p>
        </p:txBody>
      </p:sp>
      <p:sp>
        <p:nvSpPr>
          <p:cNvPr id="43" name="Shape 39"/>
          <p:cNvSpPr/>
          <p:nvPr/>
        </p:nvSpPr>
        <p:spPr>
          <a:xfrm>
            <a:off x="4782312" y="5797296"/>
            <a:ext cx="5989320" cy="365760"/>
          </a:xfrm>
          <a:prstGeom prst="roundRect">
            <a:avLst/>
          </a:prstGeom>
          <a:solidFill>
            <a:srgbClr val="17657F">
              <a:alpha val="12000"/>
            </a:srgbClr>
          </a:solidFill>
          <a:ln w="12700">
            <a:solidFill>
              <a:srgbClr val="17657F">
                <a:alpha val="2800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901184" y="58750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657F"/>
                </a:solidFill>
              </a:rPr>
              <a:t>Top risk list updates dynamically with slicers using a unique Risk Sort Key.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C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retention actions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22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984"/>
                </a:solidFill>
              </a:rPr>
              <a:t>Prioritise actions that are both high-impact and operationally controllable.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5376672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sx="100000" sy="100000" kx="0" ky="0" algn="bl" rotWithShape="0" blurRad="15240" dist="50800" dir="2700000">
              <a:srgbClr val="B7C3C9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36192"/>
            <a:ext cx="566928" cy="566928"/>
          </a:xfrm>
          <a:prstGeom prst="ellipse">
            <a:avLst/>
          </a:prstGeom>
          <a:solidFill>
            <a:srgbClr val="C45112"/>
          </a:solidFill>
          <a:ln w="12700">
            <a:solidFill>
              <a:srgbClr val="C451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6420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151790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B5C"/>
                </a:solidFill>
              </a:rPr>
              <a:t>Reduce avoidable overtime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86537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5112"/>
                </a:solidFill>
              </a:rPr>
              <a:t>30.53% attrition with overtime vs 10.44% without.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63040" y="224942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323F"/>
                </a:solidFill>
              </a:rPr>
              <a:t>Audit workload by team, cap sustained overtime and add capacity where pressure is structural.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298448"/>
            <a:ext cx="5376672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sx="100000" sy="100000" kx="0" ky="0" algn="bl" rotWithShape="0" blurRad="15240" dist="50800" dir="2700000">
              <a:srgbClr val="B7C3C9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1536192"/>
            <a:ext cx="566928" cy="566928"/>
          </a:xfrm>
          <a:prstGeom prst="ellipse">
            <a:avLst/>
          </a:prstGeom>
          <a:solidFill>
            <a:srgbClr val="17657F"/>
          </a:solidFill>
          <a:ln w="12700">
            <a:solidFill>
              <a:srgbClr val="1765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66420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86600" y="151790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B5C"/>
                </a:solidFill>
              </a:rPr>
              <a:t>Protect early-career employees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86600" y="186537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657F"/>
                </a:solidFill>
              </a:rPr>
              <a:t>18–24 attrition is 39.18%; 25–34 is 20.22%.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86600" y="224942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323F"/>
                </a:solidFill>
              </a:rPr>
              <a:t>Introduce 30/60/90-day check-ins, clearer progression paths and manager-led stay conversations.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401568"/>
            <a:ext cx="5376672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sx="100000" sy="100000" kx="0" ky="0" algn="bl" rotWithShape="0" blurRad="15240" dist="50800" dir="2700000">
              <a:srgbClr val="B7C3C9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639312"/>
            <a:ext cx="566928" cy="566928"/>
          </a:xfrm>
          <a:prstGeom prst="ellipse">
            <a:avLst/>
          </a:prstGeom>
          <a:solidFill>
            <a:srgbClr val="0A4D6E"/>
          </a:solidFill>
          <a:ln w="12700">
            <a:solidFill>
              <a:srgbClr val="0A4D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767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362102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B5C"/>
                </a:solidFill>
              </a:rPr>
              <a:t>Target roles and departments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396849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4D6E"/>
                </a:solidFill>
              </a:rPr>
              <a:t>Sales Rep 39.76%; Lab Tech 23.94%; Sales dept 20.63%.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463040" y="435254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323F"/>
                </a:solidFill>
              </a:rPr>
              <a:t>Run role-specific retention reviews; separate rate risk from absolute leaver volume in R&amp;D.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3401568"/>
            <a:ext cx="5376672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sx="100000" sy="100000" kx="0" ky="0" algn="bl" rotWithShape="0" blurRad="15240" dist="50800" dir="2700000">
              <a:srgbClr val="B7C3C9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55080" y="3639312"/>
            <a:ext cx="566928" cy="566928"/>
          </a:xfrm>
          <a:prstGeom prst="ellipse">
            <a:avLst/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767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86600" y="362102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B5C"/>
                </a:solidFill>
              </a:rPr>
              <a:t>Address pay + satisfaction signals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86600" y="396849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5B"/>
                </a:solidFill>
              </a:rPr>
              <a:t>Very Low Income 25.23%; Very Dissatisfied 22.84%.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86600" y="435254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323F"/>
                </a:solidFill>
              </a:rPr>
              <a:t>Review pay positioning, recognition, job design and satisfaction hotspots before broad policy changes.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5605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3B5C"/>
                </a:solidFill>
              </a:rPr>
              <a:t>90-day action sequence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743200" y="5504688"/>
            <a:ext cx="1920240" cy="658368"/>
          </a:xfrm>
          <a:prstGeom prst="roundRect">
            <a:avLst/>
          </a:prstGeom>
          <a:solidFill>
            <a:srgbClr val="C45112"/>
          </a:solidFill>
          <a:ln w="12700">
            <a:solidFill>
              <a:srgbClr val="C451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16352" y="557784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NOW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2816352" y="5779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Validate 68 high-risk cases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01184" y="5504688"/>
            <a:ext cx="1920240" cy="658368"/>
          </a:xfrm>
          <a:prstGeom prst="roundRect">
            <a:avLst/>
          </a:prstGeom>
          <a:solidFill>
            <a:srgbClr val="E6F0F4"/>
          </a:solidFill>
          <a:ln w="12700">
            <a:solidFill>
              <a:srgbClr val="C7D9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74336" y="557784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7657F"/>
                </a:solidFill>
              </a:rPr>
              <a:t>30 DAYS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4974336" y="5779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323F"/>
                </a:solidFill>
              </a:rPr>
              <a:t>Overtime + pay hotspot review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059168" y="5504688"/>
            <a:ext cx="1920240" cy="658368"/>
          </a:xfrm>
          <a:prstGeom prst="roundRect">
            <a:avLst/>
          </a:prstGeom>
          <a:solidFill>
            <a:srgbClr val="E6F0F4"/>
          </a:solidFill>
          <a:ln w="12700">
            <a:solidFill>
              <a:srgbClr val="C7D9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557784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7657F"/>
                </a:solidFill>
              </a:rPr>
              <a:t>60 DAYS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7132320" y="5779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323F"/>
                </a:solidFill>
              </a:rPr>
              <a:t>Targeted role interventions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217152" y="5504688"/>
            <a:ext cx="1920240" cy="658368"/>
          </a:xfrm>
          <a:prstGeom prst="roundRect">
            <a:avLst/>
          </a:prstGeom>
          <a:solidFill>
            <a:srgbClr val="E6F0F4"/>
          </a:solidFill>
          <a:ln w="12700">
            <a:solidFill>
              <a:srgbClr val="C7D9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90304" y="557784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7657F"/>
                </a:solidFill>
              </a:rPr>
              <a:t>90 DAYS</a:t>
            </a:r>
            <a:endParaRPr lang="en-US" sz="840" dirty="0"/>
          </a:p>
        </p:txBody>
      </p:sp>
      <p:sp>
        <p:nvSpPr>
          <p:cNvPr id="40" name="Text 38"/>
          <p:cNvSpPr/>
          <p:nvPr/>
        </p:nvSpPr>
        <p:spPr>
          <a:xfrm>
            <a:off x="9290304" y="5779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323F"/>
                </a:solidFill>
              </a:rPr>
              <a:t>Measure attrition + risk movement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C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Methodology, limitations &amp; next step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22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984"/>
                </a:solidFill>
              </a:rPr>
              <a:t>A strong descriptive decision tool today — with a clear path to predictive modelling later.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3675888" cy="452628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sx="100000" sy="100000" kx="0" ky="0" algn="bl" rotWithShape="0" blurRad="15240" dist="50800" dir="2700000">
              <a:srgbClr val="B7C3C9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3B5C"/>
                </a:solidFill>
              </a:rPr>
              <a:t>What was built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13816" y="2048256"/>
            <a:ext cx="256032" cy="256032"/>
          </a:xfrm>
          <a:prstGeom prst="ellipse">
            <a:avLst/>
          </a:prstGeom>
          <a:solidFill>
            <a:srgbClr val="17657F"/>
          </a:solidFill>
          <a:ln w="12700">
            <a:solidFill>
              <a:srgbClr val="1765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0574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88720" y="202082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23F"/>
                </a:solidFill>
              </a:rPr>
              <a:t>Cleaned &amp; standardised data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88720" y="230428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984"/>
                </a:solidFill>
              </a:rPr>
              <a:t>Structured categories, helper labels and analysis bands.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13816" y="2852928"/>
            <a:ext cx="256032" cy="256032"/>
          </a:xfrm>
          <a:prstGeom prst="ellipse">
            <a:avLst/>
          </a:prstGeom>
          <a:solidFill>
            <a:srgbClr val="17657F"/>
          </a:solidFill>
          <a:ln w="12700">
            <a:solidFill>
              <a:srgbClr val="1765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8620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254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23F"/>
                </a:solidFill>
              </a:rPr>
              <a:t>Pivot-led analysis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88720" y="310896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984"/>
                </a:solidFill>
              </a:rPr>
              <a:t>Seven business questions translated into repeatable KPI views.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3816" y="3657600"/>
            <a:ext cx="256032" cy="256032"/>
          </a:xfrm>
          <a:prstGeom prst="ellipse">
            <a:avLst/>
          </a:prstGeom>
          <a:solidFill>
            <a:srgbClr val="17657F"/>
          </a:solidFill>
          <a:ln w="12700">
            <a:solidFill>
              <a:srgbClr val="1765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6667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363016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23F"/>
                </a:solidFill>
              </a:rPr>
              <a:t>Interactive dashboard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88720" y="391363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984"/>
                </a:solidFill>
              </a:rPr>
              <a:t>Slicers filter KPIs, drivers and risk views.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3816" y="4462272"/>
            <a:ext cx="256032" cy="256032"/>
          </a:xfrm>
          <a:prstGeom prst="ellipse">
            <a:avLst/>
          </a:prstGeom>
          <a:solidFill>
            <a:srgbClr val="17657F"/>
          </a:solidFill>
          <a:ln w="12700">
            <a:solidFill>
              <a:srgbClr val="1765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44714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88720" y="44348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23F"/>
                </a:solidFill>
              </a:rPr>
              <a:t>Rule-based risk score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88720" y="471830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984"/>
                </a:solidFill>
              </a:rPr>
              <a:t>Overtime, age, income, satisfaction and job-role signals combined for prioritisation.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07408" y="1261872"/>
            <a:ext cx="3429000" cy="4526280"/>
          </a:xfrm>
          <a:prstGeom prst="roundRect">
            <a:avLst>
              <a:gd name="adj" fmla="val 3200"/>
            </a:avLst>
          </a:prstGeom>
          <a:solidFill>
            <a:srgbClr val="073B5C"/>
          </a:solidFill>
          <a:ln w="12700">
            <a:solidFill>
              <a:srgbClr val="073B5C"/>
            </a:solidFill>
            <a:prstDash val="solid"/>
          </a:ln>
          <a:effectLst>
            <a:outerShdw sx="100000" sy="100000" kx="0" ky="0" algn="bl" rotWithShape="0" blurRad="15240" dist="50800" dir="2700000">
              <a:srgbClr val="B7C3C9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90872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Important limitation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700016" y="2084832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58A"/>
                </a:solidFill>
              </a:rPr>
              <a:t>“At risk in the next 6 months” is a prioritisation score, not a forecast probability.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00016" y="30906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Why?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0016" y="340156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CF2"/>
                </a:solidFill>
              </a:rPr>
              <a:t>The dataset is a single workforce snapshot with no longitudinal outcome history. Traditional time-series forecasting is therefore not appropriate for individual employee exits.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0016" y="475488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D0E2"/>
                </a:solidFill>
              </a:rPr>
              <a:t>Associations should guide investigation — not be treated as proof of causation.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65008" y="1261872"/>
            <a:ext cx="3611880" cy="45262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sx="100000" sy="100000" kx="0" ky="0" algn="bl" rotWithShape="0" blurRad="15240" dist="50800" dir="2700000">
              <a:srgbClr val="B7C3C9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57616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3B5C"/>
                </a:solidFill>
              </a:rPr>
              <a:t>Next analytical step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357616" y="2057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657F"/>
                </a:solidFill>
              </a:rPr>
              <a:t>Build a true attrition propensity model once historical outcomes are available.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8375904" y="2944368"/>
            <a:ext cx="137160" cy="137160"/>
          </a:xfrm>
          <a:prstGeom prst="ellipse">
            <a:avLst/>
          </a:prstGeom>
          <a:solidFill>
            <a:srgbClr val="C45112"/>
          </a:solidFill>
          <a:ln w="12700">
            <a:solidFill>
              <a:srgbClr val="C451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50224" y="29169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323F"/>
                </a:solidFill>
              </a:rPr>
              <a:t>Capture monthly employee snapshots and exits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375904" y="3438144"/>
            <a:ext cx="137160" cy="137160"/>
          </a:xfrm>
          <a:prstGeom prst="ellipse">
            <a:avLst/>
          </a:prstGeom>
          <a:solidFill>
            <a:srgbClr val="C45112"/>
          </a:solidFill>
          <a:ln w="12700">
            <a:solidFill>
              <a:srgbClr val="C451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50224" y="34107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323F"/>
                </a:solidFill>
              </a:rPr>
              <a:t>Create train/validation periods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375904" y="3931920"/>
            <a:ext cx="137160" cy="137160"/>
          </a:xfrm>
          <a:prstGeom prst="ellipse">
            <a:avLst/>
          </a:prstGeom>
          <a:solidFill>
            <a:srgbClr val="C45112"/>
          </a:solidFill>
          <a:ln w="12700">
            <a:solidFill>
              <a:srgbClr val="C4511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50224" y="39044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323F"/>
                </a:solidFill>
              </a:rPr>
              <a:t>Model probability of attrition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375904" y="4425696"/>
            <a:ext cx="137160" cy="137160"/>
          </a:xfrm>
          <a:prstGeom prst="ellipse">
            <a:avLst/>
          </a:prstGeom>
          <a:solidFill>
            <a:srgbClr val="C45112"/>
          </a:solidFill>
          <a:ln w="12700">
            <a:solidFill>
              <a:srgbClr val="C4511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50224" y="43982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323F"/>
                </a:solidFill>
              </a:rPr>
              <a:t>Track precision, recall and calibration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375904" y="4919472"/>
            <a:ext cx="137160" cy="137160"/>
          </a:xfrm>
          <a:prstGeom prst="ellipse">
            <a:avLst/>
          </a:prstGeom>
          <a:solidFill>
            <a:srgbClr val="C45112"/>
          </a:solidFill>
          <a:ln w="12700">
            <a:solidFill>
              <a:srgbClr val="C451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50224" y="4892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323F"/>
                </a:solidFill>
              </a:rPr>
              <a:t>Measure retention intervention outcomes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2920" y="5989320"/>
            <a:ext cx="11173968" cy="393192"/>
          </a:xfrm>
          <a:prstGeom prst="roundRect">
            <a:avLst/>
          </a:prstGeom>
          <a:solidFill>
            <a:srgbClr val="E6F0F4"/>
          </a:solidFill>
          <a:ln w="12700">
            <a:solidFill>
              <a:srgbClr val="D0E1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6089904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73B5C"/>
                </a:solidFill>
              </a:rPr>
              <a:t>Bottom line: the dashboard turns a static HR dataset into an actionable retention operating view — and creates the foundation for a future predictive model.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C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TalentSphere Solutions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Workforce Attrition Intelligence</dc:title>
  <dc:subject>TalentSphere Workforce Attrition Analysis</dc:subject>
  <dc:creator>OpenAI</dc:creator>
  <cp:lastModifiedBy>OpenAI</cp:lastModifiedBy>
  <cp:revision>1</cp:revision>
  <dcterms:created xsi:type="dcterms:W3CDTF">2026-08-21T19:42:39Z</dcterms:created>
  <dcterms:modified xsi:type="dcterms:W3CDTF">2026-08-21T19:42:39Z</dcterms:modified>
</cp:coreProperties>
</file>